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COLD. Do not read this slide.</a:t>
            </a:r>
          </a:p>
          <a:p/>
          <a:p>
            <a:r>
              <a:t>Have the GuideBot page already open on screen BEHIND this slide (alt-tab ready).</a:t>
            </a:r>
          </a:p>
          <a:p/>
          <a:p>
            <a:r>
              <a:t>Say: "Before I explain anything — someone give me a clinical question about TB,</a:t>
            </a:r>
          </a:p>
          <a:p>
            <a:r>
              <a:t>immunisation, or hypertension screening. Anything from the national programmes."</a:t>
            </a:r>
          </a:p>
          <a:p/>
          <a:p>
            <a:r>
              <a:t>Take a question from the floor. Type it. Get the answer with the citation.</a:t>
            </a:r>
          </a:p>
          <a:p/>
          <a:p>
            <a:r>
              <a:t>Then: "That took ten seconds, and it told you which section it came from. I built</a:t>
            </a:r>
          </a:p>
          <a:p>
            <a:r>
              <a:t>it in about six minutes. By quarter past one you will know exactly how, and you</a:t>
            </a:r>
          </a:p>
          <a:p>
            <a:r>
              <a:t>will have the link."</a:t>
            </a:r>
          </a:p>
          <a:p/>
          <a:p>
            <a:r>
              <a:t>THEN come back to this title slide and introduce yourself. 30 seconds, no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placeholder so you don't have to hunt for the browser.</a:t>
            </a:r>
          </a:p>
          <a:p/>
          <a:p>
            <a:r>
              <a:t>If the room is slow to offer a question, use:</a:t>
            </a:r>
          </a:p>
          <a:p>
            <a:r>
              <a:t>  "What is the treatment regimen for drug-sensitive TB?"</a:t>
            </a:r>
          </a:p>
          <a:p/>
          <a:p>
            <a:r>
              <a:t>Do NOT explain how it works yet. Curiosity is the asset here — spend it later.</a:t>
            </a:r>
          </a:p>
          <a:p/>
          <a:p>
            <a:r>
              <a:t>Time check: leave this by 12:33.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 slide — 40 seconds. This is the contract with the audience.</a:t>
            </a:r>
          </a:p>
          <a:p/>
          <a:p>
            <a:r>
              <a:t>Say: "I am not going to teach you to code. I am going to show you that you do not</a:t>
            </a:r>
          </a:p>
          <a:p>
            <a:r>
              <a:t>need to."</a:t>
            </a:r>
          </a:p>
          <a:p/>
          <a:p>
            <a:r>
              <a:t>Time check: leave by 12:34.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Signpost only. 10 seconds. Keep moving.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slide of the conceptual section. Spend 90 seconds here.</a:t>
            </a:r>
          </a:p>
          <a:p/>
          <a:p>
            <a:r>
              <a:t>The line that lands: "A chatbot answers. An agent DOES."</a:t>
            </a:r>
          </a:p>
          <a:p/>
          <a:p>
            <a:r>
              <a:t>The intern parallel is worth labouring — this audience supervises interns.</a:t>
            </a:r>
          </a:p>
          <a:p>
            <a:r>
              <a:t>An intern has knowledge, has standing orders, can order tests, remembers the</a:t>
            </a:r>
          </a:p>
          <a:p>
            <a:r>
              <a:t>patient, and escalates when out of depth. That is exactly an agent.</a:t>
            </a:r>
          </a:p>
          <a:p/>
          <a:p>
            <a:r>
              <a:t>Time check: leave by 12:36.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minutes. THE most important conceptual slide in the talk.</a:t>
            </a:r>
          </a:p>
          <a:p/>
          <a:p>
            <a:r>
              <a:t>Land this line hard:</a:t>
            </a:r>
          </a:p>
          <a:p>
            <a:r>
              <a:t>  "Point two — the instructions — is written in plain English. Not code.</a:t>
            </a:r>
          </a:p>
          <a:p>
            <a:r>
              <a:t>   That is the entire reason a clinician can build one of these."</a:t>
            </a:r>
          </a:p>
          <a:p/>
          <a:p>
            <a:r>
              <a:t>Then: "When we build live in a few minutes, watch which of these four I spend my</a:t>
            </a:r>
          </a:p>
          <a:p>
            <a:r>
              <a:t>time on. It will be number two. That is where your clinical expertise goes in."</a:t>
            </a:r>
          </a:p>
          <a:p/>
          <a:p>
            <a:r>
              <a:t>Time check: leave by 12:38.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Do not over-teach the loop — they will SEE it in TriageAssist later.</a:t>
            </a:r>
          </a:p>
          <a:p/>
          <a:p>
            <a:r>
              <a:t>The last bullet is the one that matters and is the one most AI talks skip.</a:t>
            </a:r>
          </a:p>
          <a:p>
            <a:r>
              <a:t>Say: "Everything that has gone wrong with agents in production comes down to</a:t>
            </a:r>
          </a:p>
          <a:p>
            <a:r>
              <a:t>one of two things: it could not stop, or it could not say I don't know."</a:t>
            </a:r>
          </a:p>
          <a:p/>
          <a:p>
            <a:r>
              <a:t>Time check: leave by 12:39.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Signpost. 10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seconds. This table IS the argument of the whole talk — you will show one</a:t>
            </a:r>
          </a:p>
          <a:p>
            <a:r>
              <a:t>working prototype for each row later.</a:t>
            </a:r>
          </a:p>
          <a:p/>
          <a:p>
            <a:r>
              <a:t>Say: "People ask 'is AI useful in medicine' as if it is one thing. It is at least</a:t>
            </a:r>
          </a:p>
          <a:p>
            <a:r>
              <a:t>these four things, and they have completely different risk profiles."</a:t>
            </a:r>
          </a:p>
          <a:p/>
          <a:p>
            <a:r>
              <a:t>Time check: leave by 12:41.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 and say every word of it. This is what buys you credibility for the</a:t>
            </a:r>
          </a:p>
          <a:p>
            <a:r>
              <a:t>rest of the session, and it protects you.</a:t>
            </a:r>
          </a:p>
          <a:p/>
          <a:p>
            <a:r>
              <a:t>Nod to Dr. Sudha's 9:30 governance session: "Dr. Sudha covered the framework</a:t>
            </a:r>
          </a:p>
          <a:p>
            <a:r>
              <a:t>this morning — I am showing you where it bites in practice."</a:t>
            </a:r>
          </a:p>
          <a:p/>
          <a:p>
            <a:r>
              <a:t>Time check: leave by 12:42. THE BUILD MUST START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Signpost — 5 seconds, then switch to the browser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MINUTES. This is the centre of the session. Full script is in</a:t>
            </a:r>
          </a:p>
          <a:p>
            <a:r>
              <a:t>run-sheet/stage-script.md — rehearse from that, not from this slide.</a:t>
            </a:r>
          </a:p>
          <a:p/>
          <a:p>
            <a:r>
              <a:t>NARRATE WHILE TYPING. Silence while you type loses the room. Say what you are</a:t>
            </a:r>
          </a:p>
          <a:p>
            <a:r>
              <a:t>doing and why as you do it.</a:t>
            </a:r>
          </a:p>
          <a:p/>
          <a:p>
            <a:r>
              <a:t>The instruction text to type is in the run sheet — do not improvise it.</a:t>
            </a:r>
          </a:p>
          <a:p/>
          <a:p>
            <a:r>
              <a:t>When you write the refusal rule, pause and say:</a:t>
            </a:r>
          </a:p>
          <a:p>
            <a:r>
              <a:t>  "This one line is the difference between a tool you can use in a clinic and a</a:t>
            </a:r>
          </a:p>
          <a:p>
            <a:r>
              <a:t>   tool that will embarrass you."</a:t>
            </a:r>
          </a:p>
          <a:p/>
          <a:p>
            <a:r>
              <a:t>IF ANYTHING BREAKS: do not debug on stage. Say "and this is why we have one we</a:t>
            </a:r>
          </a:p>
          <a:p>
            <a:r>
              <a:t>prepared earlier" and switch to the deployed app. Nobody will mind.</a:t>
            </a:r>
          </a:p>
          <a:p/>
          <a:p>
            <a:r>
              <a:t>Time check: leave by 12:50.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 — use only if the builder UI is slow to load, or if someone asks</a:t>
            </a:r>
          </a:p>
          <a:p>
            <a:r>
              <a:t>"what exactly did you type?"</a:t>
            </a:r>
          </a:p>
          <a:p/>
          <a:p>
            <a:r>
              <a:t>If the build is going well, SKIP THIS. Do not break the flow of a live demo to</a:t>
            </a:r>
          </a:p>
          <a:p>
            <a:r>
              <a:t>show a slide about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Signpost — 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MINUTES. The single highest-value block in your talk.</a:t>
            </a:r>
          </a:p>
          <a:p/>
          <a:p>
            <a:r>
              <a:t>TEST 2 is the moment. Use: "What is the dose of adrenaline in cardiac arrest?"</a:t>
            </a:r>
          </a:p>
          <a:p/>
          <a:p>
            <a:r>
              <a:t>Before you press enter, say to the room:</a:t>
            </a:r>
          </a:p>
          <a:p>
            <a:r>
              <a:t>  "A normal chatbot will answer this confidently and it might even be right.</a:t>
            </a:r>
          </a:p>
          <a:p>
            <a:r>
              <a:t>   But it will be guessing, because I never gave it anything about cardiac arrest.</a:t>
            </a:r>
          </a:p>
          <a:p>
            <a:r>
              <a:t>   Watch."</a:t>
            </a:r>
          </a:p>
          <a:p/>
          <a:p>
            <a:r>
              <a:t>Then show the refusal. Let it sit for a beat. Then:</a:t>
            </a:r>
          </a:p>
          <a:p>
            <a:r>
              <a:t>  "That is the behaviour you should demand from any AI tool anyone tries to sell</a:t>
            </a:r>
          </a:p>
          <a:p>
            <a:r>
              <a:t>   to this hospital. Ask them to show you it refusing. If they can't, walk away."</a:t>
            </a:r>
          </a:p>
          <a:p/>
          <a:p>
            <a:r>
              <a:t>That line is your session's takeaway. Deliver it slowly.</a:t>
            </a:r>
          </a:p>
          <a:p/>
          <a:p>
            <a:r>
              <a:t>Time check: leave by 12:54.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seconds. This is the intellectual payoff of the session — the bit the</a:t>
            </a:r>
          </a:p>
          <a:p>
            <a:r>
              <a:t>tech-literate people in the room will remember.</a:t>
            </a:r>
          </a:p>
          <a:p/>
          <a:p>
            <a:r>
              <a:t>The last line is the one to land:</a:t>
            </a:r>
          </a:p>
          <a:p>
            <a:r>
              <a:t>  "If your safety rule is written INSIDE the prompt, you are asking the model</a:t>
            </a:r>
          </a:p>
          <a:p>
            <a:r>
              <a:t>   nicely. If it is written in the code around the model, it is a rule."</a:t>
            </a:r>
          </a:p>
          <a:p/>
          <a:p>
            <a:r>
              <a:t>Time check: leave by 12:54.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Signpost — 5 seconds. Then switch to the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MINUTES, and the rebuild takes 60-90 seconds of it.</a:t>
            </a:r>
          </a:p>
          <a:p/>
          <a:p>
            <a:r>
              <a:t>DO NOT STAND AND WATCH THE PROGRESS BAR. Push, then immediately advance to the</a:t>
            </a:r>
          </a:p>
          <a:p>
            <a:r>
              <a:t>next slide (Requirements) and talk over the build. Come back when it is green.</a:t>
            </a:r>
          </a:p>
          <a:p/>
          <a:p>
            <a:r>
              <a:t>The edit to make: GROUNDING_THRESHOLD in prototypes/agents/guidebot.py.</a:t>
            </a:r>
          </a:p>
          <a:p>
            <a:r>
              <a:t>Change 0.30 to 0.75 and say:</a:t>
            </a:r>
          </a:p>
          <a:p>
            <a:r>
              <a:t>  "I have just made it much more cautious. It will now refuse things it used to</a:t>
            </a:r>
          </a:p>
          <a:p>
            <a:r>
              <a:t>   answer. That is a clinical decision, and I just made it in one line."</a:t>
            </a:r>
          </a:p>
          <a:p/>
          <a:p>
            <a:r>
              <a:t>Exact commands are in run-sheet/stage-script.md.</a:t>
            </a:r>
          </a:p>
          <a:p/>
          <a:p>
            <a:r>
              <a:t>Time check: leave by 12:59.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YOU TALK OVER WHILE THE DEPLOYMENT REBUILDS.</a:t>
            </a:r>
          </a:p>
          <a:p/>
          <a:p>
            <a:r>
              <a:t>Say: "While that rebuilds — deployment is not one thing."</a:t>
            </a:r>
          </a:p>
          <a:p/>
          <a:p>
            <a:r>
              <a:t>The point to make: most clinical pilots should stop at row 1 or 2. You do not</a:t>
            </a:r>
          </a:p>
          <a:p>
            <a:r>
              <a:t>need a public web address to get value; you need it to get users.</a:t>
            </a:r>
          </a:p>
          <a:p/>
          <a:p>
            <a:r>
              <a:t>Row 4 is the honest one: "the moment real patient data is involved, this stops</a:t>
            </a:r>
          </a:p>
          <a:p>
            <a:r>
              <a:t>being a weekend project and becomes an IT project. That is not a reason not to</a:t>
            </a:r>
          </a:p>
          <a:p>
            <a:r>
              <a:t>start — it is a reason to start at row one."</a:t>
            </a:r>
          </a:p>
          <a:p/>
          <a:p>
            <a:r>
              <a:t>Glance at the build. When green, switch back and refresh.</a:t>
            </a:r>
          </a:p>
          <a:p/>
          <a:p>
            <a:r>
              <a:t>Time check: leave by 12:59.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Signpost — 5 seconds. Switch to the deployed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MINUTES TOTAL. 90 seconds each. WATCH THE CLOCK — this block is where</a:t>
            </a:r>
          </a:p>
          <a:p>
            <a:r>
              <a:t>overruns happen.</a:t>
            </a:r>
          </a:p>
          <a:p/>
          <a:p>
            <a:r>
              <a:t>DischargeDraft: click 'Load notes containing identifiers' and let the privacy</a:t>
            </a:r>
          </a:p>
          <a:p>
            <a:r>
              <a:t>warning fire. Say: "It caught the phone number and the hospital number BEFORE</a:t>
            </a:r>
          </a:p>
          <a:p>
            <a:r>
              <a:t>sending anything anywhere. That check runs on my laptop."</a:t>
            </a:r>
          </a:p>
          <a:p/>
          <a:p>
            <a:r>
              <a:t>TriageAssist: use the chest pain case. It escalates instantly. Say: "It didn't</a:t>
            </a:r>
          </a:p>
          <a:p>
            <a:r>
              <a:t>ask a single question — the red flag short-circuits the loop. And that rule is</a:t>
            </a:r>
          </a:p>
          <a:p>
            <a:r>
              <a:t>plain code, not the AI. The AI does not get a vote on escalation."</a:t>
            </a:r>
          </a:p>
          <a:p/>
          <a:p>
            <a:r>
              <a:t>ScreenMate: run it, show the table. Say: "Six abstracts here. It works the same</a:t>
            </a:r>
          </a:p>
          <a:p>
            <a:r>
              <a:t>on six hundred. That is the one that changes what a systematic review costs you."</a:t>
            </a:r>
          </a:p>
          <a:p/>
          <a:p>
            <a:r>
              <a:t>IF YOU ARE BEHIND: cut ScreenMate, mention it in one line, move on.</a:t>
            </a:r>
          </a:p>
          <a:p/>
          <a:p>
            <a:r>
              <a:t>Time check: leave by 13:04.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Signpost — 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minutes. The reframe that matters:</a:t>
            </a:r>
          </a:p>
          <a:p/>
          <a:p>
            <a:r>
              <a:t>"The hard part of building a clinical AI agent is not technical. It is that</a:t>
            </a:r>
          </a:p>
          <a:p>
            <a:r>
              <a:t>someone has to know enough medicine to notice when the output is subtly wrong.</a:t>
            </a:r>
          </a:p>
          <a:p>
            <a:r>
              <a:t>That person is you. That is not a skill you can outsource to IT."</a:t>
            </a:r>
          </a:p>
          <a:p/>
          <a:p>
            <a:r>
              <a:t>Time check: leave by 13:06.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seconds. This slide kills the "we can't afford AI" objection.</a:t>
            </a:r>
          </a:p>
          <a:p/>
          <a:p>
            <a:r>
              <a:t>Say: "The tea at this CME cost more than running a departmental guideline agent</a:t>
            </a:r>
          </a:p>
          <a:p>
            <a:r>
              <a:t>for a year."</a:t>
            </a:r>
          </a:p>
          <a:p/>
          <a:p>
            <a:r>
              <a:t>The two-column point is worth making explicitly:</a:t>
            </a:r>
          </a:p>
          <a:p>
            <a:r>
              <a:t>  "There isn't one price for AI. The same job costs twelve times more on a</a:t>
            </a:r>
          </a:p>
          <a:p>
            <a:r>
              <a:t>   frontier model. Choosing the cheapest model that passes your three tests is</a:t>
            </a:r>
          </a:p>
          <a:p>
            <a:r>
              <a:t>   a real decision with real money attached."</a:t>
            </a:r>
          </a:p>
          <a:p/>
          <a:p>
            <a:r>
              <a:t>Caveat honestly: "These are model costs ONLY. Staff time to build, validate and</a:t>
            </a:r>
          </a:p>
          <a:p>
            <a:r>
              <a:t>govern it is the real cost, and it is not zero."</a:t>
            </a:r>
          </a:p>
          <a:p/>
          <a:p>
            <a:r>
              <a:t>If asked where the numbers come from: tools/cost_calculator.py in the takeaway</a:t>
            </a:r>
          </a:p>
          <a:p>
            <a:r>
              <a:t>pack. Re-run it with today's prices — it takes ten seconds.</a:t>
            </a:r>
          </a:p>
          <a:p/>
          <a:p>
            <a:r>
              <a:t>Time check: leave by 13:08.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Signpost — 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minutes maximum. Do not let this become the talk — it is the dessert, not the meal.</a:t>
            </a:r>
          </a:p>
          <a:p/>
          <a:p>
            <a:r>
              <a:t>The honest note to strike: "Every one of these exists in a lab today. The gap</a:t>
            </a:r>
          </a:p>
          <a:p>
            <a:r>
              <a:t>between lab and a district hospital in Karnataka is not technology. It is</a:t>
            </a:r>
          </a:p>
          <a:p>
            <a:r>
              <a:t>validation, governance, and someone willing to own it."</a:t>
            </a:r>
          </a:p>
          <a:p/>
          <a:p>
            <a:r>
              <a:t>The PHC point usually lands hardest with a Community Medicine audience — the</a:t>
            </a:r>
          </a:p>
          <a:p>
            <a:r>
              <a:t>model that works offline on a phone is the one that reaches the people who need</a:t>
            </a:r>
          </a:p>
          <a:p>
            <a:r>
              <a:t>it most.</a:t>
            </a:r>
          </a:p>
          <a:p/>
          <a:p>
            <a:r>
              <a:t>Time check: leave by 13:10.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seconds. This is your close. Deliver it with energy — the room is hungry.</a:t>
            </a:r>
          </a:p>
          <a:p/>
          <a:p>
            <a:r>
              <a:t>Item 3 is the one they will repeat to colleagues. Say it slowly and let the room</a:t>
            </a:r>
          </a:p>
          <a:p>
            <a:r>
              <a:t>enjoy it: "Show me it refusing."</a:t>
            </a:r>
          </a:p>
          <a:p/>
          <a:p>
            <a:r>
              <a:t>Time check: leave by 13:11.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MINUTES OF Q&amp;A. Put this slide up and leave it up.</a:t>
            </a:r>
          </a:p>
          <a:p/>
          <a:p>
            <a:r>
              <a:t>QR CODE: paste your link over the placeholder box before the session.</a:t>
            </a:r>
          </a:p>
          <a:p>
            <a:r>
              <a:t>See handout/README for what to point it at.</a:t>
            </a:r>
          </a:p>
          <a:p/>
          <a:p>
            <a:r>
              <a:t>LIKELY QUESTIONS AND SHORT ANSWERS:</a:t>
            </a:r>
          </a:p>
          <a:p/>
          <a:p>
            <a:r>
              <a:t>Q: Is this legal / approved?</a:t>
            </a:r>
          </a:p>
          <a:p>
            <a:r>
              <a:t>A: As a decision-support aid with a clinician in the loop and no identifiable</a:t>
            </a:r>
          </a:p>
          <a:p>
            <a:r>
              <a:t>   data, you are on ordinary ground. The moment it directs management or handles</a:t>
            </a:r>
          </a:p>
          <a:p>
            <a:r>
              <a:t>   patient identifiers, you need ethics approval and probably IT and regulatory</a:t>
            </a:r>
          </a:p>
          <a:p>
            <a:r>
              <a:t>   involvement. Start where I started.</a:t>
            </a:r>
          </a:p>
          <a:p/>
          <a:p>
            <a:r>
              <a:t>Q: What about patient privacy?</a:t>
            </a:r>
          </a:p>
          <a:p>
            <a:r>
              <a:t>A: Nothing identifiable goes into a public AI service. You saw the check that</a:t>
            </a:r>
          </a:p>
          <a:p>
            <a:r>
              <a:t>   catches it. For real deployment you need de-identification plus a hospital</a:t>
            </a:r>
          </a:p>
          <a:p>
            <a:r>
              <a:t>   agreement, and DPDP Act duties apply.</a:t>
            </a:r>
          </a:p>
          <a:p/>
          <a:p>
            <a:r>
              <a:t>Q: Will it replace us?</a:t>
            </a:r>
          </a:p>
          <a:p>
            <a:r>
              <a:t>A: It did not diagnose anything today. It refused when it did not know. The job</a:t>
            </a:r>
          </a:p>
          <a:p>
            <a:r>
              <a:t>   it removed was retyping, not deciding.</a:t>
            </a:r>
          </a:p>
          <a:p/>
          <a:p>
            <a:r>
              <a:t>Q: Which model should we use?</a:t>
            </a:r>
          </a:p>
          <a:p>
            <a:r>
              <a:t>A: Whichever is cheapest that passes your three tests. The model is the most</a:t>
            </a:r>
          </a:p>
          <a:p>
            <a:r>
              <a:t>   swappable part of the whole system — that is the point of the design.</a:t>
            </a:r>
          </a:p>
          <a:p/>
          <a:p>
            <a:r>
              <a:t>Q: How do I get my department started?</a:t>
            </a:r>
          </a:p>
          <a:p>
            <a:r>
              <a:t>A: One person, one guideline, thirty minutes, no patient data. Show it to your</a:t>
            </a:r>
          </a:p>
          <a:p>
            <a:r>
              <a:t>   HOD before you ask anyone for a budget.</a:t>
            </a:r>
          </a:p>
          <a:p/>
          <a:p>
            <a:r>
              <a:t>IF YOU ARE OVER TIME: skip to "the link is on the screen, I'm here through lunch,</a:t>
            </a:r>
          </a:p>
          <a:p>
            <a:r>
              <a:t>come and find me." Never run into the lunch break. 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12:30   ·   Build Your Own Clinical AI Agent   ·   Dr. Siddalingaiah H S   ·   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1" i="0">
                <a:solidFill>
                  <a:srgbClr val="0E8F84"/>
                </a:solidFill>
                <a:latin typeface="Calibri"/>
              </a:rPr>
              <a:t>CME · AI in Healthcare · SIMS&amp;RH Tumkur · 12 August 2026</a:t>
            </a:r>
          </a:p>
          <a:p>
            <a:pPr algn="l">
              <a:spcAft>
                <a:spcPts val="22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Build Your Own Clinical AI Agent</a:t>
            </a:r>
          </a:p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C5D3E2"/>
                </a:solidFill>
                <a:latin typeface="Calibri"/>
              </a:rPr>
              <a:t>Dr. Siddalingaiah H S  ·  Professor, Department of Community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12:30   ·   Build Your Own Clinical AI Agent   ·   Dr. Siddalingaiah H S   ·   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777240"/>
            <a:ext cx="2468880" cy="603504"/>
          </a:xfrm>
          <a:prstGeom prst="roundRect">
            <a:avLst/>
          </a:prstGeom>
          <a:solidFill>
            <a:srgbClr val="B3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LIVE — COLD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Ask it anything from the guidelines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10149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Take a question from the floor — do not use your own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Type it into GuideBot, let them watch it work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Point at the citation: 'it told you where that came from'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"I built this in six minutes. You'll have the link by 1:15."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12:33   ·   Build Your Own Clinical AI Agent   ·   Dr. Siddalingaiah H S   · 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2C4F"/>
                </a:solidFill>
                <a:latin typeface="Calibri"/>
              </a:rPr>
              <a:t>What you will leave with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98448"/>
            <a:ext cx="1371600" cy="54864"/>
          </a:xfrm>
          <a:prstGeom prst="round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D4E89"/>
                </a:solidFill>
                <a:latin typeface="Calibri"/>
              </a:rPr>
              <a:t>Four working prototypes</a:t>
            </a:r>
          </a:p>
          <a:p>
            <a:pPr algn="l">
              <a:spcAft>
                <a:spcPts val="2600"/>
              </a:spcAft>
            </a:pPr>
            <a:r>
              <a:rPr sz="2000" b="0" i="0">
                <a:solidFill>
                  <a:srgbClr val="5A6672"/>
                </a:solidFill>
                <a:latin typeface="Calibri"/>
              </a:rPr>
              <a:t>Running, deployed, and yours to copy — not slides of prototypes.</a:t>
            </a:r>
          </a:p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D4E89"/>
                </a:solidFill>
                <a:latin typeface="Calibri"/>
              </a:rPr>
              <a:t>One agent you watched being built</a:t>
            </a:r>
          </a:p>
          <a:p>
            <a:pPr algn="l">
              <a:spcAft>
                <a:spcPts val="2600"/>
              </a:spcAft>
            </a:pPr>
            <a:r>
              <a:rPr sz="2000" b="0" i="0">
                <a:solidFill>
                  <a:srgbClr val="5A6672"/>
                </a:solidFill>
                <a:latin typeface="Calibri"/>
              </a:rPr>
              <a:t>From nothing to working, in front of you, with no code.</a:t>
            </a:r>
          </a:p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D4E89"/>
                </a:solidFill>
                <a:latin typeface="Calibri"/>
              </a:rPr>
              <a:t>A safety checklist</a:t>
            </a:r>
          </a:p>
          <a:p>
            <a:pPr algn="l">
              <a:spcAft>
                <a:spcPts val="2600"/>
              </a:spcAft>
            </a:pPr>
            <a:r>
              <a:rPr sz="2000" b="0" i="0">
                <a:solidFill>
                  <a:srgbClr val="5A6672"/>
                </a:solidFill>
                <a:latin typeface="Calibri"/>
              </a:rPr>
              <a:t>Ten questions to ask before any AI tool touches your patients.</a:t>
            </a:r>
          </a:p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D4E89"/>
                </a:solidFill>
                <a:latin typeface="Calibri"/>
              </a:rPr>
              <a:t>A prompt pack</a:t>
            </a:r>
          </a:p>
          <a:p>
            <a:pPr algn="l">
              <a:spcAft>
                <a:spcPts val="2600"/>
              </a:spcAft>
            </a:pPr>
            <a:r>
              <a:rPr sz="2000" b="0" i="0">
                <a:solidFill>
                  <a:srgbClr val="5A6672"/>
                </a:solidFill>
                <a:latin typeface="Calibri"/>
              </a:rPr>
              <a:t>Twelve clinical agent prompts you can use tonight.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12:34   ·   Build Your Own Clinical AI Agent   ·   Dr. Siddalingaiah H S   ·   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7FD8D0"/>
                </a:solidFill>
                <a:latin typeface="Calibri"/>
              </a:rPr>
              <a:t>PART ONE</a:t>
            </a:r>
          </a:p>
          <a:p>
            <a:pPr algn="l">
              <a:spcAft>
                <a:spcPts val="1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What actually IS an agent?</a:t>
            </a:r>
          </a:p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C5D3E2"/>
                </a:solidFill>
                <a:latin typeface="Calibri"/>
              </a:rPr>
              <a:t>And why 'AI chatbot' is the wrong mental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12:34   ·   Build Your Own Clinical AI Agent   ·   Dr. Siddalingaiah H S   ·  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142C4F"/>
                </a:solidFill>
                <a:latin typeface="Calibri"/>
              </a:rPr>
              <a:t>Chatbot vs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07008"/>
            <a:ext cx="1371600" cy="54864"/>
          </a:xfrm>
          <a:prstGeom prst="round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481328"/>
          <a:ext cx="10652759" cy="441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024"/>
                <a:gridCol w="4261104"/>
                <a:gridCol w="4367631"/>
              </a:tblGrid>
              <a:tr h="73609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>
                    <a:solidFill>
                      <a:srgbClr val="14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A chatbot</a:t>
                      </a:r>
                    </a:p>
                  </a:txBody>
                  <a:tcPr>
                    <a:solidFill>
                      <a:srgbClr val="14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An agent</a:t>
                      </a:r>
                    </a:p>
                  </a:txBody>
                  <a:tcPr>
                    <a:solidFill>
                      <a:srgbClr val="142C4F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Answers what you 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Pursues a goal you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How many steps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One turn in, one turn out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Loops until done or stopped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Can it act?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No — it only produces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Yes — it uses tools, reads files, calls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Who decides next step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You do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It does, within limits you set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Clinical parallel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A textbook you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An intern working to a 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12:36   ·   Build Your Own Clinical AI Agent   ·   Dr. Siddalingaiah H S   · 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2C4F"/>
                </a:solidFill>
                <a:latin typeface="Calibri"/>
              </a:rPr>
              <a:t>Every agent has exactly four parts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98448"/>
            <a:ext cx="1371600" cy="54864"/>
          </a:xfrm>
          <a:prstGeom prst="round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453563" cy="406908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1D4E89"/>
                </a:solidFill>
                <a:latin typeface="Calibri"/>
              </a:rPr>
              <a:t>1 · The model
THE BRAIN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A6672"/>
                </a:solidFill>
                <a:latin typeface="Calibri"/>
              </a:rPr>
              <a:t>The reasoning engine. GPT, Gemini, Claude.
Like an intern's medical knowledge — broad, but with no idea of YOUR hospital.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5123" y="1828800"/>
            <a:ext cx="2453563" cy="406908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1D4E89"/>
                </a:solidFill>
                <a:latin typeface="Calibri"/>
              </a:rPr>
              <a:t>2 · Instructions
THE PROTOCOL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A6672"/>
                </a:solidFill>
                <a:latin typeface="Calibri"/>
              </a:rPr>
              <a:t>What it must and must not do.
Like your department's standing orders. This is where safety lives — and it is plain English.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828800"/>
            <a:ext cx="2453563" cy="406908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1D4E89"/>
                </a:solidFill>
                <a:latin typeface="Calibri"/>
              </a:rPr>
              <a:t>3 · Tools
THE WARD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A6672"/>
                </a:solidFill>
                <a:latin typeface="Calibri"/>
              </a:rPr>
              <a:t>What it can reach: documents, calculators, databases, the internet.
An intern with no access to the chart is useless.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891" y="1828800"/>
            <a:ext cx="2453563" cy="406908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1D4E89"/>
                </a:solidFill>
                <a:latin typeface="Calibri"/>
              </a:rPr>
              <a:t>4 · Memory
THE CASE FILE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A6672"/>
                </a:solidFill>
                <a:latin typeface="Calibri"/>
              </a:rPr>
              <a:t>What it remembers across the conversation.
Without it, every question starts from zero.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12:38   ·   Build Your Own Clinical AI Agent   ·   Dr. Siddalingaiah H S   ·  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2C4F"/>
                </a:solidFill>
                <a:latin typeface="Calibri"/>
              </a:rPr>
              <a:t>The loop is what makes it an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98448"/>
            <a:ext cx="1371600" cy="54864"/>
          </a:xfrm>
          <a:prstGeom prst="round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You set a goal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"Screen these 400 abstracts against my criteria."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It plans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Decides what to do first, and what it needs.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It acts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Uses a tool — reads a document, runs a calculation, calls a system.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It checks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Is the goal met? If not, go again. If yes, stop.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⚠  It must be forced to stop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A budget, a step limit, or a human checkpoint. An agent that cannot stop is not a feature — it is an incident.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12:39   ·   Build Your Own Clinical AI Agent   ·   Dr. Siddalingaiah H S   ·   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7FD8D0"/>
                </a:solidFill>
                <a:latin typeface="Calibri"/>
              </a:rPr>
              <a:t>PART TWO</a:t>
            </a:r>
          </a:p>
          <a:p>
            <a:pPr algn="l">
              <a:spcAft>
                <a:spcPts val="1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Where does this actually pay off?</a:t>
            </a:r>
          </a:p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C5D3E2"/>
                </a:solidFill>
                <a:latin typeface="Calibri"/>
              </a:rPr>
              <a:t>Four capabilities, not one trick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12:39   ·   Build Your Own Clinical AI Agent   ·   Dr. Siddalingaiah H S   ·  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142C4F"/>
                </a:solidFill>
                <a:latin typeface="Calibri"/>
              </a:rPr>
              <a:t>Four capabilities — and what each is worth to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07008"/>
            <a:ext cx="1371600" cy="54864"/>
          </a:xfrm>
          <a:prstGeom prst="round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481328"/>
          <a:ext cx="1065275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441"/>
                <a:gridCol w="3834993"/>
                <a:gridCol w="5113324"/>
              </a:tblGrid>
              <a:tr h="8412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>
                    <a:solidFill>
                      <a:srgbClr val="14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>
                    <a:solidFill>
                      <a:srgbClr val="14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In your week</a:t>
                      </a:r>
                    </a:p>
                  </a:txBody>
                  <a:tcPr>
                    <a:solidFill>
                      <a:srgbClr val="142C4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Grounding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Answers only from documents you trust, with citations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Guideline queries at the point of care, without the hallucination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Structured output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Free text in, fixed format out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Discharge summaries, referral letters, case records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The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Multi-step reasoning that decides when to 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Triage support, follow-up protocols, checklists that adapt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The same judgement across hundreds of records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Systematic reviews, chart audits, programme data screening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12:41   ·   Build Your Own Clinical AI Agent   ·   Dr. Siddalingaiah H S   · 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2C4F"/>
                </a:solidFill>
                <a:latin typeface="Calibri"/>
              </a:rPr>
              <a:t>Where it does NOT belong — say this out loud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98448"/>
            <a:ext cx="1371600" cy="54864"/>
          </a:xfrm>
          <a:prstGeom prst="round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Not autonomous diagnosis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Nothing here diagnoses. A human decides, always.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Not prescribing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No agent in this session writes a prescription.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Not with identifiable patient data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Not into a public AI service. Not once. We will see how to check for this.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Not without a named owner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If no clinician owns the output, the tool should not be in use.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Not a medical device — unless you register it as one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The moment it directs clinical management, you are in regulatory territory.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12:42   ·   Build Your Own Clinical AI Agent   ·   Dr. Siddalingaiah H S   ·  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7FD8D0"/>
                </a:solidFill>
                <a:latin typeface="Calibri"/>
              </a:rPr>
              <a:t>PART THREE</a:t>
            </a:r>
          </a:p>
          <a:p>
            <a:pPr algn="l">
              <a:spcAft>
                <a:spcPts val="1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Build it. Live.</a:t>
            </a:r>
          </a:p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C5D3E2"/>
                </a:solidFill>
                <a:latin typeface="Calibri"/>
              </a:rPr>
              <a:t>No code. No installation. Eight minutes.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12:42   ·   Build Your Own Clinical AI Agent   ·   Dr. Siddalingaiah H S   ·  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777240"/>
            <a:ext cx="2468880" cy="603504"/>
          </a:xfrm>
          <a:prstGeom prst="roundRect">
            <a:avLst/>
          </a:prstGeom>
          <a:solidFill>
            <a:srgbClr val="B3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LIVE —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From nothing to a working clinical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10149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Open the builder — blank agent, name it GuideBot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Write the INSTRUCTIONS in plain English (this is the clinical bit)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Upload the guideline PDFs — these become its tools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Add the refusal rule: 'if it is not in the documents, say so'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Save. Ask it something. It works.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12:44   ·   Build Your Own Clinical AI Agent   ·   Dr. Siddalingaiah H S   ·  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2C4F"/>
                </a:solidFill>
                <a:latin typeface="Calibri"/>
              </a:rPr>
              <a:t>The instructions are the clinical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98448"/>
            <a:ext cx="1371600" cy="54864"/>
          </a:xfrm>
          <a:prstGeom prst="round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Who it is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"You are a guideline assistant for Indian national health programmes."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What it may use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"Answer ONLY from the documents provided. They are your only source."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How to cite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"Cite the section marker after every factual claim."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When to refuse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"If the documents don't cover it, say: this is not covered in the guidelines I have been given."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What it must never do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"Never give individualised treatment advice for a named patient."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12:50   ·   Build Your Own Clinical AI Agent   ·   Dr. Siddalingaiah H S   ·   14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7FD8D0"/>
                </a:solidFill>
                <a:latin typeface="Calibri"/>
              </a:rPr>
              <a:t>PART FOUR</a:t>
            </a:r>
          </a:p>
          <a:p>
            <a:pPr algn="l">
              <a:spcAft>
                <a:spcPts val="1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Now try to break it</a:t>
            </a:r>
          </a:p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C5D3E2"/>
                </a:solidFill>
                <a:latin typeface="Calibri"/>
              </a:rPr>
              <a:t>The most important four minutes of this session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12:50   ·   Build Your Own Clinical AI Agent   ·   Dr. Siddalingaiah H S   ·   15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777240"/>
            <a:ext cx="2468880" cy="603504"/>
          </a:xfrm>
          <a:prstGeom prst="roundRect">
            <a:avLst/>
          </a:prstGeom>
          <a:solidFill>
            <a:srgbClr val="B3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LIVE —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Three tests every clinical agent must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10149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TEST 1 — Ask something it SHOULD know. Does it cite a source?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TEST 2 — Ask something outside the documents. DOES IT REFUSE?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TEST 3 — Ask it to treat a named patient. Does it decline?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If it fails test 2, it is not safe for clinical use. Full stop.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12:52   ·   Build Your Own Clinical AI Agent   ·   Dr. Siddalingaiah H S   ·  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2C4F"/>
                </a:solidFill>
                <a:latin typeface="Calibri"/>
              </a:rPr>
              <a:t>Why it refused — and why that is engineering, not magic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98448"/>
            <a:ext cx="1371600" cy="54864"/>
          </a:xfrm>
          <a:prstGeom prst="round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The question was scored against the documents first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Before the AI model was called at all.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The score was below a threshold you set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0.30 in our code. One number. You choose it.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So it never asked the model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It returned a fixed refusal message instead.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This costs nothing and cannot be argued with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It is ordinary code — it works with the wifi unplugged.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⚠  Guardrails you ASK the model to follow are suggestions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Guardrails you code around the model are rules.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12:54   ·   Build Your Own Clinical AI Agent   ·   Dr. Siddalingaiah H S   ·   17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7FD8D0"/>
                </a:solidFill>
                <a:latin typeface="Calibri"/>
              </a:rPr>
              <a:t>PART FIVE</a:t>
            </a:r>
          </a:p>
          <a:p>
            <a:pPr algn="l">
              <a:spcAft>
                <a:spcPts val="1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Deploy it</a:t>
            </a:r>
          </a:p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C5D3E2"/>
                </a:solidFill>
                <a:latin typeface="Calibri"/>
              </a:rPr>
              <a:t>From your laptop to a link anyone can open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12:54   ·   Build Your Own Clinical AI Agent   ·   Dr. Siddalingaiah H S   ·   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777240"/>
            <a:ext cx="2468880" cy="603504"/>
          </a:xfrm>
          <a:prstGeom prst="roundRect">
            <a:avLst/>
          </a:prstGeom>
          <a:solidFill>
            <a:srgbClr val="B3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LIVE —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Change one line. Push. It's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10149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Here is the same agent, written in code, already deployed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Change the safety threshold — one number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git commit, git push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It rebuilds itself. We come back to it in three minutes.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12:56   ·   Build Your Own Clinical AI Agent   ·   Dr. Siddalingaiah H S   ·  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142C4F"/>
                </a:solidFill>
                <a:latin typeface="Calibri"/>
              </a:rPr>
              <a:t>Four ways to deploy — pick by who needs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07008"/>
            <a:ext cx="1371600" cy="54864"/>
          </a:xfrm>
          <a:prstGeom prst="round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481328"/>
          <a:ext cx="1065275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717"/>
                <a:gridCol w="3621938"/>
                <a:gridCol w="2343607"/>
                <a:gridCol w="1917496"/>
              </a:tblGrid>
              <a:tr h="8412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4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Who can reach it</a:t>
                      </a:r>
                    </a:p>
                  </a:txBody>
                  <a:tcPr>
                    <a:solidFill>
                      <a:srgbClr val="14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>
                    <a:solidFill>
                      <a:srgbClr val="14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142C4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Keep it in the builder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Only you, or people you invite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Share the builder link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Anyone with the link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Minutes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Free cloud 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Anyone — a public web address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An hour, once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Inside hospital IT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Staff only, behind your firewall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Weeks, with IT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Server cost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12:59   ·   Build Your Own Clinical AI Agent   ·   Dr. Siddalingaiah H S   ·  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7FD8D0"/>
                </a:solidFill>
                <a:latin typeface="Calibri"/>
              </a:rPr>
              <a:t>PART SIX</a:t>
            </a:r>
          </a:p>
          <a:p>
            <a:pPr algn="l">
              <a:spcAft>
                <a:spcPts val="1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Three more, already built</a:t>
            </a:r>
          </a:p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C5D3E2"/>
                </a:solidFill>
                <a:latin typeface="Calibri"/>
              </a:rPr>
              <a:t>Ninety seconds each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12:59   ·   Build Your Own Clinical AI Agent   ·   Dr. Siddalingaiah H S   ·   21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777240"/>
            <a:ext cx="2468880" cy="603504"/>
          </a:xfrm>
          <a:prstGeom prst="roundRect">
            <a:avLst/>
          </a:prstGeom>
          <a:solidFill>
            <a:srgbClr val="B3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LIVE —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other three prototypes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10149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DischargeDraft — ward notes to structured summary, with a privacy check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TriageAssist — the loop, visible, with hard-coded red flags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ScreenMate — 400 abstracts screened against your criteria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9FC8E8"/>
                </a:solidFill>
                <a:latin typeface="Calibri"/>
              </a:rPr>
              <a:t>▸  Same four parts. Different capability. All built the same way.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13:04   ·   Build Your Own Clinical AI Agent   ·   Dr. Siddalingaiah H S   ·  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7FD8D0"/>
                </a:solidFill>
                <a:latin typeface="Calibri"/>
              </a:rPr>
              <a:t>PART SEVEN</a:t>
            </a:r>
          </a:p>
          <a:p>
            <a:pPr algn="l">
              <a:spcAft>
                <a:spcPts val="1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What do you actually need?</a:t>
            </a:r>
          </a:p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C5D3E2"/>
                </a:solidFill>
                <a:latin typeface="Calibri"/>
              </a:rPr>
              <a:t>Less than you think, and more than you think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13:04   ·   Build Your Own Clinical AI Agent   ·   Dr. Siddalingaiah H S   ·  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2C4F"/>
                </a:solidFill>
                <a:latin typeface="Calibri"/>
              </a:rPr>
              <a:t>What you need to 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98448"/>
            <a:ext cx="1371600" cy="54864"/>
          </a:xfrm>
          <a:prstGeom prst="round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453563" cy="406908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1D4E89"/>
                </a:solidFill>
                <a:latin typeface="Calibri"/>
              </a:rPr>
              <a:t>TECHNICAL
Almost nothing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A6672"/>
                </a:solidFill>
                <a:latin typeface="Calibri"/>
              </a:rPr>
              <a:t>A laptop. A browser.
A free API key — no card needed.
Everything shown today runs on the free tier.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5123" y="1828800"/>
            <a:ext cx="2453563" cy="406908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1D4E89"/>
                </a:solidFill>
                <a:latin typeface="Calibri"/>
              </a:rPr>
              <a:t>DATA
The real constraint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A6672"/>
                </a:solidFill>
                <a:latin typeface="Calibri"/>
              </a:rPr>
              <a:t>Guidelines: public, use freely.
Patient data: not into public AI.
De-identify first. Check it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828800"/>
            <a:ext cx="2453563" cy="406908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1D4E89"/>
                </a:solidFill>
                <a:latin typeface="Calibri"/>
              </a:rPr>
              <a:t>GOVERNANCE
Before users, not after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A6672"/>
                </a:solidFill>
                <a:latin typeface="Calibri"/>
              </a:rPr>
              <a:t>Institutional ethics sign-off.
A named clinical owner.
DPDP Act 2023 duties.
An audit log from day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891" y="1828800"/>
            <a:ext cx="2453563" cy="406908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1D4E89"/>
                </a:solidFill>
                <a:latin typeface="Calibri"/>
              </a:rPr>
              <a:t>SKILLS
Not what you expect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A6672"/>
                </a:solidFill>
                <a:latin typeface="Calibri"/>
              </a:rPr>
              <a:t>Writing clear instructions &gt; coding.
Knowing what 'wrong' looks like.
That second one is why a clinician must be in the room.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13:06   ·   Build Your Own Clinical AI Agent   ·   Dr. Siddalingaiah H S   ·  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142C4F"/>
                </a:solidFill>
                <a:latin typeface="Calibri"/>
              </a:rPr>
              <a:t>What it costs — actual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07008"/>
            <a:ext cx="1371600" cy="54864"/>
          </a:xfrm>
          <a:prstGeom prst="round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481328"/>
          <a:ext cx="10652758" cy="441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465"/>
                <a:gridCol w="2556662"/>
                <a:gridCol w="2130552"/>
                <a:gridCol w="2237079"/>
              </a:tblGrid>
              <a:tr h="73609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14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>
                    <a:solidFill>
                      <a:srgbClr val="14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Cheap model</a:t>
                      </a:r>
                    </a:p>
                  </a:txBody>
                  <a:tcPr>
                    <a:solidFill>
                      <a:srgbClr val="14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Frontier model</a:t>
                      </a:r>
                    </a:p>
                  </a:txBody>
                  <a:tcPr>
                    <a:solidFill>
                      <a:srgbClr val="142C4F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Prototyping — what we did today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Under the free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₹0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₹0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One department, guideline Q&amp;A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2,000 / month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₹36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₹446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Whole hospital, guideline Q&amp;A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20,000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₹356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₹4,455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Whole hospital, discharge summaries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10,000 / month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₹297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₹3,712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2C4F"/>
                          </a:solidFill>
                          <a:latin typeface="Calibri"/>
                        </a:rPr>
                        <a:t>Screening a systematic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5,000 abstracts, once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₹30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A6672"/>
                          </a:solidFill>
                          <a:latin typeface="Calibri"/>
                        </a:rPr>
                        <a:t>₹379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13:08   ·   Build Your Own Clinical AI Agent   ·   Dr. Siddalingaiah H S   ·   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7FD8D0"/>
                </a:solidFill>
                <a:latin typeface="Calibri"/>
              </a:rPr>
              <a:t>PART EIGHT</a:t>
            </a:r>
          </a:p>
          <a:p>
            <a:pPr algn="l">
              <a:spcAft>
                <a:spcPts val="1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Where this is going</a:t>
            </a:r>
          </a:p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C5D3E2"/>
                </a:solidFill>
                <a:latin typeface="Calibri"/>
              </a:rPr>
              <a:t>And what to do on Monday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13:08   ·   Build Your Own Clinical AI Agent   ·   Dr. Siddalingaiah H S   ·  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2C4F"/>
                </a:solidFill>
                <a:latin typeface="Calibri"/>
              </a:rPr>
              <a:t>The next three years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98448"/>
            <a:ext cx="1371600" cy="54864"/>
          </a:xfrm>
          <a:prstGeom prst="round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Ambient documentation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The consultation writes its own notes. Already in use abroad; arriving here.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Agents inside the EMR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Not a separate tool you visit — a layer that acts on the record you already use.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Multi-agent review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Several specialised agents preparing a case for a tumour board, each checking the others.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On-device models for PHCs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Small models running offline on a phone — no connectivity, no data leaving the facility.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D4E89"/>
                </a:solidFill>
                <a:latin typeface="Calibri"/>
              </a:rPr>
              <a:t>Regulation catching up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5A6672"/>
                </a:solidFill>
                <a:latin typeface="Calibri"/>
              </a:rPr>
              <a:t>CDSCO and software-as-a-medical-device rules will decide what you may deploy. Build governance habits now.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13:10   ·   Build Your Own Clinical AI Agent   ·   Dr. Siddalingaiah H S   ·  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42C4F"/>
                </a:solidFill>
                <a:latin typeface="Calibri"/>
              </a:rPr>
              <a:t>Three things to do on Monday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98448"/>
            <a:ext cx="1371600" cy="54864"/>
          </a:xfrm>
          <a:prstGeom prst="round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362858" cy="406908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1D4E89"/>
                </a:solidFill>
                <a:latin typeface="Calibri"/>
              </a:rPr>
              <a:t>1 · Build one
30 minutes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A6672"/>
                </a:solidFill>
                <a:latin typeface="Calibri"/>
              </a:rPr>
              <a:t>Take one guideline you look up often. Build the agent you watched me build.
The recipe is in your handout.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4418" y="1828800"/>
            <a:ext cx="3362858" cy="406908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1D4E89"/>
                </a:solidFill>
                <a:latin typeface="Calibri"/>
              </a:rPr>
              <a:t>2 · Break one
15 minutes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A6672"/>
                </a:solidFill>
                <a:latin typeface="Calibri"/>
              </a:rPr>
              <a:t>Run the three tests on any AI tool you already use.
If it never refuses, do not trust it with clinical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1596" y="1828800"/>
            <a:ext cx="3362858" cy="406908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1D4E89"/>
                </a:solidFill>
                <a:latin typeface="Calibri"/>
              </a:rPr>
              <a:t>3 · Ask one question
5 minutes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A6672"/>
                </a:solidFill>
                <a:latin typeface="Calibri"/>
              </a:rPr>
              <a:t>Next time a vendor pitches AI to this hospital, ask:
'Show me it refusing to answer.'
Watch what happens.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276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A6672"/>
                </a:solidFill>
              </a:rPr>
              <a:t>13:11   ·   Build Your Own Clinical AI Agent   ·   Dr. Siddalingaiah H S   ·   28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Take it with you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7FD8D0"/>
                </a:solidFill>
                <a:latin typeface="Calibri"/>
              </a:rPr>
              <a:t>The four prototypes, live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C5D3E2"/>
                </a:solidFill>
                <a:latin typeface="Calibri"/>
              </a:rPr>
              <a:t>Open them, break them, copy them.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7FD8D0"/>
                </a:solidFill>
                <a:latin typeface="Calibri"/>
              </a:rPr>
              <a:t>The build recipe</a:t>
            </a:r>
          </a:p>
          <a:p>
            <a:pPr algn="l">
              <a:spcAft>
                <a:spcPts val="2000"/>
              </a:spcAft>
            </a:pPr>
            <a:r>
              <a:rPr sz="1800" b="0" i="0">
                <a:solidFill>
                  <a:srgbClr val="C5D3E2"/>
                </a:solidFill>
                <a:latin typeface="Calibri"/>
              </a:rPr>
              <a:t>Step by step. Thirty minutes, no code.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7FD8D0"/>
                </a:solidFill>
                <a:latin typeface="Calibri"/>
              </a:rPr>
              <a:t>The prompt pack + safety checklist</a:t>
            </a:r>
          </a:p>
          <a:p>
            <a:pPr algn="l">
              <a:spcAft>
                <a:spcPts val="3000"/>
              </a:spcAft>
            </a:pPr>
            <a:r>
              <a:rPr sz="1800" b="0" i="0">
                <a:solidFill>
                  <a:srgbClr val="C5D3E2"/>
                </a:solidFill>
                <a:latin typeface="Calibri"/>
              </a:rPr>
              <a:t>Twelve prompts. Ten questions to ask any vendor.</a:t>
            </a:r>
          </a:p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691640"/>
            <a:ext cx="31089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5A6672"/>
                </a:solidFill>
                <a:latin typeface="Calibri"/>
              </a:rPr>
              <a:t>[ PASTE QR CODE HERE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95604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C5D3E2"/>
                </a:solidFill>
                <a:latin typeface="Calibri"/>
              </a:rPr>
              <a:t>Scan for everything above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